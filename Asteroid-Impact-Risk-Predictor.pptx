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Heebo Light"/>
      <p:regular r:id="rId201314"/>
    </p:embeddedFont>
    <p:embeddedFont>
      <p:font typeface="Heebo"/>
      <p:regular r:id="rId201315"/>
    </p:embeddedFont>
    <p:embeddedFont>
      <p:font typeface="Heebo Bold"/>
      <p:regular r:id="rId201316"/>
    </p:embeddedFont>
    <p:embeddedFont>
      <p:font typeface="Montserrat"/>
      <p:regular r:id="rId201317"/>
    </p:embeddedFont>
    <p:embeddedFont>
      <p:font typeface="Montserrat Bold"/>
      <p:regular r:id="rId201318"/>
    </p:embeddedFont>
    <p:embeddedFont>
      <p:font typeface="Montserrat Light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1.png"/><Relationship Id="rId8" Type="http://schemas.openxmlformats.org/officeDocument/2006/relationships/image" Target="../media/image-2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image" Target="../media/image-5-2.png"/><Relationship Id="rId9" Type="http://schemas.openxmlformats.org/officeDocument/2006/relationships/image" Target="../media/image-5-3.svg"/><Relationship Id="rId10" Type="http://schemas.openxmlformats.org/officeDocument/2006/relationships/image" Target="../media/image-5-2.png"/><Relationship Id="rId11" Type="http://schemas.openxmlformats.org/officeDocument/2006/relationships/image" Target="../media/image-5-3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438374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Asteroid Impact Risk Predictor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2719884"/>
            <a:ext cx="6296860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complete machine learning pipeline for classifying asteroids as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Potentially Hazardous Asteroids (PHA)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or Non-PHA — from raw NASA data to an interactive web application. This project uses asteroid orbital and physical characteristics to build a model-based classification system, covering data preparation, model training, threshold selection, and deployment.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4229001"/>
            <a:ext cx="6296860" cy="1190526"/>
          </a:xfrm>
          <a:prstGeom prst="roundRect">
            <a:avLst>
              <a:gd name="adj" fmla="val 5835"/>
            </a:avLst>
          </a:prstGeom>
          <a:solidFill>
            <a:srgbClr val="31136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69" y="4468713"/>
            <a:ext cx="206667" cy="1652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98731" y="4435574"/>
            <a:ext cx="5594309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This system provides a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model-based PHA classification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It does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not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predict actual Earth impact events and is not a scientifically validated impact probability tool.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1241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759843"/>
            <a:ext cx="1086874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Asteroid data is not always easy to use directly. Several data quality challenges must be addressed before a reliable classification model can be built. Our goal is to prepare the data carefully, build a model that classifies an asteroid as PHA or Non-PHA, and deliver the final system through an interactive web application.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739727"/>
            <a:ext cx="5351725" cy="15202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2017" y="2924076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 Values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22017" y="3281759"/>
            <a:ext cx="490684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Some asteroids lack measured values for key physical properties like diameter, requiring imputation strategies before modeling.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8495" y="2739727"/>
            <a:ext cx="5351725" cy="15202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39037" y="2924076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Severe Class Imbalance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439037" y="3281759"/>
            <a:ext cx="490684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Potentially Hazardous Asteroids are extremely rare compared to Non-PHA asteroids, creating a highly skewed dataset that can bias models toward the majority class.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425255"/>
            <a:ext cx="5351725" cy="152023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22017" y="4609604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Redundant Features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922017" y="4967288"/>
            <a:ext cx="490684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dataset contains identifier and metadata columns that provide no predictive value and must be removed to avoid noise.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8495" y="4425255"/>
            <a:ext cx="5351725" cy="152023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39037" y="4609604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 of Data Leakage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439037" y="4967288"/>
            <a:ext cx="490684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Careful separation of training and test data is essential to ensure unbiased final evaluation and prevent information from leaking into the training process.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6902"/>
            <a:ext cx="10868745" cy="355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79621" y="929382"/>
            <a:ext cx="5459375" cy="5471616"/>
          </a:xfrm>
          <a:prstGeom prst="roundRect">
            <a:avLst>
              <a:gd name="adj" fmla="val 1500"/>
            </a:avLst>
          </a:prstGeom>
          <a:solidFill>
            <a:srgbClr val="481C9E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93323" y="1007467"/>
            <a:ext cx="5231971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NASA JPL Small-Body Database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93323" y="1263253"/>
            <a:ext cx="5231971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project uses the NASA JPL Small-Body Database dataset, loaded through a GitLab mirror. After removing identifier and metadata columns, the cleaned dataset contains </a:t>
            </a:r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958,524 rows and 36 columns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The target variable is </a:t>
            </a:r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pha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(Potentially Hazardous Asteroid status).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93323" y="1801813"/>
            <a:ext cx="5231971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Numerical Features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93323" y="2057598"/>
            <a:ext cx="5231971" cy="1057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12000"/>
              </a:lnSpc>
              <a:buSzPct val="100000"/>
              <a:buChar char="•"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Diameter</a:t>
            </a:r>
            <a:endParaRPr lang="en-US" sz="850" dirty="0"/>
          </a:p>
          <a:p>
            <a:pPr algn="l" marL="172720" indent="-172720">
              <a:lnSpc>
                <a:spcPct val="112000"/>
              </a:lnSpc>
              <a:buSzPct val="100000"/>
              <a:buChar char="•"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Albedo</a:t>
            </a:r>
            <a:endParaRPr lang="en-US" sz="850" dirty="0"/>
          </a:p>
          <a:p>
            <a:pPr algn="l" marL="172720" indent="-172720">
              <a:lnSpc>
                <a:spcPct val="112000"/>
              </a:lnSpc>
              <a:buSzPct val="100000"/>
              <a:buChar char="•"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Eccentricity</a:t>
            </a:r>
            <a:endParaRPr lang="en-US" sz="850" dirty="0"/>
          </a:p>
          <a:p>
            <a:pPr algn="l" marL="172720" indent="-172720">
              <a:lnSpc>
                <a:spcPct val="112000"/>
              </a:lnSpc>
              <a:buSzPct val="100000"/>
              <a:buChar char="•"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Semi-major axis</a:t>
            </a:r>
            <a:endParaRPr lang="en-US" sz="850" dirty="0"/>
          </a:p>
          <a:p>
            <a:pPr algn="l" marL="172720" indent="-172720">
              <a:lnSpc>
                <a:spcPct val="112000"/>
              </a:lnSpc>
              <a:buSzPct val="100000"/>
              <a:buChar char="•"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Inclination</a:t>
            </a:r>
            <a:endParaRPr lang="en-US" sz="850" dirty="0"/>
          </a:p>
          <a:p>
            <a:pPr algn="l" marL="172720" indent="-172720">
              <a:lnSpc>
                <a:spcPct val="112000"/>
              </a:lnSpc>
              <a:buSzPct val="100000"/>
              <a:buChar char="•"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MOID (Minimum Orbit Intersection Distance)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93323" y="3193058"/>
            <a:ext cx="5231971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Categorical Features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3323" y="3448844"/>
            <a:ext cx="5231971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12000"/>
              </a:lnSpc>
              <a:buSzPct val="100000"/>
              <a:buChar char="•"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NEO (Near-Earth Object status)</a:t>
            </a:r>
            <a:endParaRPr lang="en-US" sz="850" dirty="0"/>
          </a:p>
          <a:p>
            <a:pPr algn="l" marL="172720" indent="-172720">
              <a:lnSpc>
                <a:spcPct val="112000"/>
              </a:lnSpc>
              <a:buSzPct val="100000"/>
              <a:buChar char="•"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Class (spectral classification)</a:t>
            </a:r>
            <a:endParaRPr lang="en-US" sz="8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0902" y="1017290"/>
            <a:ext cx="5295668" cy="52958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0077"/>
            <a:ext cx="10868745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Exploratory Data Analysis &amp; Data Quality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271091"/>
            <a:ext cx="10868745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Before training any models, we performed </a:t>
            </a:r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Exploratory Data Analysis (EDA)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to understand the data structure, quality, and distributions. This step is critical for identifying issues early and informing preprocessing decisions.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61475" y="2105422"/>
            <a:ext cx="5238917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EDA Activities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61475" y="2510929"/>
            <a:ext cx="5238917" cy="173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Checked data types, missing values, unique values, and duplicates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Analyzed class distribution (PHA vs. Non-PHA)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Examined distributions of numerical features using histograms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Identified outliers across key variables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Used boxplots to compare MOID distributions between PHA and Non-PHA asteroids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61475" y="4397077"/>
            <a:ext cx="5238917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Cleaning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61475" y="4802584"/>
            <a:ext cx="5238917" cy="142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Removed pure identifier and metadata columns (no predictive value)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Checked for missing values, invalid values, and outliers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Confirmed </a:t>
            </a:r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zero duplicate rows</a:t>
            </a:r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in the dataset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Separated training and test data so the test set remained untouched for final evaluation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97653" y="2105422"/>
            <a:ext cx="5238917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 Imbalance — The Core Challenge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297653" y="2510929"/>
            <a:ext cx="5238917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One of the most significant challenges in this project is the extreme class imbalance in the dataset: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97653" y="3190081"/>
            <a:ext cx="2541822" cy="990798"/>
          </a:xfrm>
          <a:prstGeom prst="roundRect">
            <a:avLst>
              <a:gd name="adj" fmla="val 6792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138" y="3356570"/>
            <a:ext cx="2208852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936,537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64138" y="3762077"/>
            <a:ext cx="2208852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Majority class (Non-PHA)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94649" y="3190081"/>
            <a:ext cx="2541921" cy="990798"/>
          </a:xfrm>
          <a:prstGeom prst="roundRect">
            <a:avLst>
              <a:gd name="adj" fmla="val 6792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61134" y="3356570"/>
            <a:ext cx="2208951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2,066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161134" y="3762077"/>
            <a:ext cx="2208951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Minority class (PHA)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97653" y="4336058"/>
            <a:ext cx="5238917" cy="990798"/>
          </a:xfrm>
          <a:prstGeom prst="roundRect">
            <a:avLst>
              <a:gd name="adj" fmla="val 6792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4138" y="4502547"/>
            <a:ext cx="4905947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453:1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64138" y="4908054"/>
            <a:ext cx="4905947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Imbalance ratio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97653" y="5501382"/>
            <a:ext cx="5238917" cy="75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standard model trained on this data would focus mainly on the majority class and likely miss hazardous cases. Class imbalance must be explicitly handled during model training and evaluation.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4067"/>
            <a:ext cx="1086874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Diameter Imputation &amp; Feature Engineering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1475" y="1204416"/>
            <a:ext cx="5264217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Diameter Imputation Sub-Model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61475" y="1540073"/>
            <a:ext cx="5264217" cy="1029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special challenge in the dataset is that some asteroids do not have a measured diameter. To address this, the project creates a </a:t>
            </a:r>
            <a:pPr algn="l" indent="0" marL="0">
              <a:lnSpc>
                <a:spcPct val="123000"/>
              </a:lnSpc>
              <a:buNone/>
            </a:pPr>
            <a:r>
              <a:rPr lang="en-US" sz="10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separate regression sub-model</a:t>
            </a:r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using asteroids where diameter is already available. This model estimates the missing diameter values, which are then used in the main classification pipeline — allowing the primary model to work with more complete information.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61475" y="2701925"/>
            <a:ext cx="5264217" cy="693341"/>
          </a:xfrm>
          <a:prstGeom prst="roundRect">
            <a:avLst>
              <a:gd name="adj" fmla="val 8453"/>
            </a:avLst>
          </a:prstGeom>
          <a:solidFill>
            <a:srgbClr val="31136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973" y="2878336"/>
            <a:ext cx="174422" cy="1395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4893" y="2842716"/>
            <a:ext cx="4671300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Simple explanation: if diameter is missing, another model estimates it before classification.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272353" y="1204416"/>
            <a:ext cx="5264217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272353" y="1540073"/>
            <a:ext cx="5264217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After cleaning and imputing diameter, additional features were created from existing variables to improve model performance: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4640" y="2088555"/>
            <a:ext cx="209247" cy="2092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5772" y="2084288"/>
            <a:ext cx="4810798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MOID-to-Diameter Ratio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725772" y="2419945"/>
            <a:ext cx="4810798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Combines proximity risk with physical size.</a:t>
            </a:r>
            <a:endParaRPr lang="en-US" sz="10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4640" y="2865537"/>
            <a:ext cx="209247" cy="2092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25772" y="2861270"/>
            <a:ext cx="4810798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MOID × H Interaction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725772" y="3196927"/>
            <a:ext cx="4810798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Interacts minimum orbit distance with absolute magnitude.</a:t>
            </a: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24640" y="3642519"/>
            <a:ext cx="209247" cy="20925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725772" y="3638252"/>
            <a:ext cx="4810798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Orbital Span (a and q)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6725772" y="3973909"/>
            <a:ext cx="4810798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Derived from semi-major axis and perihelion distance.</a:t>
            </a:r>
            <a:endParaRPr lang="en-US" sz="10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24640" y="4419501"/>
            <a:ext cx="209247" cy="20925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725772" y="4415234"/>
            <a:ext cx="4810798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Estimated Volume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6725772" y="4750891"/>
            <a:ext cx="4810798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Calculated from diameter to represent physical scale.</a:t>
            </a:r>
            <a:endParaRPr lang="en-US" sz="10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24640" y="5196483"/>
            <a:ext cx="209247" cy="20925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725772" y="5192216"/>
            <a:ext cx="4810798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Uncertainty Combinations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6725772" y="5527873"/>
            <a:ext cx="4810798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Sigma values combined with corresponding orbital features.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6272353" y="5866209"/>
            <a:ext cx="5264217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Feature importance analysis was then used to select the final feature set — only features above the selected importance threshold were retained for modeling.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0326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Handling Class Imbalance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350691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Because the PHA class is vastly smaller than the Non-PHA class, special techniques are required to ensure the model learns to identify hazardous asteroids effectively. The training data contains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749,226 negative samples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(Non-PHA) and only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1,653 positive samples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(PHA).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3065959"/>
            <a:ext cx="3512653" cy="2288679"/>
          </a:xfrm>
          <a:prstGeom prst="roundRect">
            <a:avLst>
              <a:gd name="adj" fmla="val 3035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3119" y="3237607"/>
            <a:ext cx="31693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 Weight for XGBoost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3119" y="3595291"/>
            <a:ext cx="3169364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project calculates a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scale_pos_weight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of approximately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453.25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for XGBoost. This tells the algorithm to give proportionally more importance to the minority (PHA) class during training, counteracting the imbalance.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9422" y="3065959"/>
            <a:ext cx="3512752" cy="2288679"/>
          </a:xfrm>
          <a:prstGeom prst="roundRect">
            <a:avLst>
              <a:gd name="adj" fmla="val 3035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11066" y="3237607"/>
            <a:ext cx="31694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SMOTE for Logistic Regression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11066" y="3595291"/>
            <a:ext cx="3169464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Logistic Regression pipeline uses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SMOTE (Synthetic Minority Over-sampling Technique)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to generate synthetic PHA samples, balancing the training distribution before model fitting.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17468" y="3065959"/>
            <a:ext cx="3512653" cy="2288679"/>
          </a:xfrm>
          <a:prstGeom prst="roundRect">
            <a:avLst>
              <a:gd name="adj" fmla="val 3035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9112" y="3237607"/>
            <a:ext cx="3169364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Balanced Subsampling for Random Forest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89112" y="3853755"/>
            <a:ext cx="316936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Random Forest model uses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balanced subsampling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during training to ensure each tree sees a more representative mix of both classes.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7930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Machine Learning Models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926729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Three classification approaches were tested and compared. For all models,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Stratified 5-Fold Cross-Validation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was used, and hyperparameter tuning was performed using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GridSearchCV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to search for optimal model settings.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641997"/>
            <a:ext cx="2021333" cy="12492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4097933"/>
            <a:ext cx="34850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XGBoost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61475" y="4455616"/>
            <a:ext cx="3485071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Uses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boosted decision trees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with class weighting (scale_pos_weight ≈ 453.25) to handle the severe class imbalance. XGBoost is known for high accuracy on tabular data and robust handling of complex feature interactions.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3213" y="2641997"/>
            <a:ext cx="2021333" cy="12492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53213" y="4097933"/>
            <a:ext cx="348517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353213" y="4455616"/>
            <a:ext cx="3485170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Uses a pipeline with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imputation, scaling, PCA (dimensionality reduction), and SMOTE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This approach provides a simpler, interpretable baseline that benefits from oversampling to address class imbalance.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050" y="2641997"/>
            <a:ext cx="2021333" cy="12492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45050" y="4097933"/>
            <a:ext cx="348517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045050" y="4455616"/>
            <a:ext cx="3485170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Uses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median imputation and balanced subsampling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during training. Random Forest builds multiple decision trees on bootstrapped samples, providing robustness and natural handling of feature importance.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1401"/>
            <a:ext cx="10868745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Results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382415"/>
            <a:ext cx="10868745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following results are reported from the notebook outputs. They represent </a:t>
            </a:r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cross-validation and test set performance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not guaranteed real-world accuracy. All three models achieved very high ROC-AUC scores during cross-validation.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061567"/>
          <a:ext cx="9143771" cy="914400"/>
        </p:xfrm>
        <a:graphic>
          <a:graphicData uri="http://schemas.openxmlformats.org/drawingml/2006/table">
            <a:tbl>
              <a:tblPr/>
              <a:tblGrid>
                <a:gridCol w="2391124"/>
                <a:gridCol w="1738999"/>
                <a:gridCol w="1738999"/>
                <a:gridCol w="1738999"/>
                <a:gridCol w="1738999"/>
                <a:gridCol w="1521624"/>
              </a:tblGrid>
              <a:tr h="4543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Model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CV ROC-AUC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PHA Precision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PHA Recall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PHA F1-Score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Key Technique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XGBoost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0.99983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0.75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0.99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0.85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Class weighting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4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Logistic Regression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0.99734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0.22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0.91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0.35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SMOTE + PCA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66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Random Forest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0.99955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0.85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0.98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0.91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Balanced subsampling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0223" marR="160223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6086" y="4324747"/>
            <a:ext cx="5469694" cy="1961852"/>
          </a:xfrm>
          <a:prstGeom prst="roundRect">
            <a:avLst>
              <a:gd name="adj" fmla="val 5880"/>
            </a:avLst>
          </a:prstGeom>
          <a:solidFill>
            <a:srgbClr val="481C9E">
              <a:alpha val="9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06221" y="4479925"/>
            <a:ext cx="5149424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Best Performer: Random Forest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06221" y="4885432"/>
            <a:ext cx="5149424" cy="100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Random Forest achieved the highest </a:t>
            </a:r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PHA F1-Score of 0.91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on the test set, with excellent recall (0.98) and the best precision (0.85) among all three models. This model was carried forward into the deployment section of the notebook.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297653" y="4479925"/>
            <a:ext cx="5238917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 Threshold Tuning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297653" y="4885432"/>
            <a:ext cx="5238917" cy="12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Rather than using the default 0.5 threshold, the project tested multiple thresholds: </a:t>
            </a:r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0.1, 0.2, 0.3, 0.4, 0.5, 0.6, and 0.7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For each threshold, the confusion matrix and classification report were examined. The deployed version uses a threshold of </a:t>
            </a:r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0.30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chosen based on the desired precision/recall balance. This threshold is saved alongside the final model.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Deployment &amp; Complete Project Flow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816570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Streamlit Web Application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987028"/>
            <a:ext cx="594315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After training, the final model and all preprocessing objects are saved using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Joblib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The saved files include: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661475" y="1123355"/>
            <a:ext cx="5333569" cy="666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Final Random Forest model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Decision threshold (0.30)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One-hot encoder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Categorical column list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Selected features list</a:t>
            </a:r>
            <a:endParaRPr lang="en-US" sz="650" dirty="0"/>
          </a:p>
          <a:p>
            <a:pPr algn="l" marL="132080" indent="-132080">
              <a:lnSpc>
                <a:spcPct val="100000"/>
              </a:lnSpc>
              <a:buSzPct val="100000"/>
              <a:buChar char="•"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Diameter imputation sub-model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661475" y="1827212"/>
            <a:ext cx="5333569" cy="297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Streamlit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application is then created. The app applies the same preprocessing and feature engineering used during training, then returns a PHA classification using the saved model and threshold. The flow is: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User Input → Preprocessing → Feature Engineering → Model → Threshold → PHA Classification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203001" y="816570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Complete Project Pipeline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03001" y="992188"/>
            <a:ext cx="165294" cy="103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03001" y="1119882"/>
            <a:ext cx="5333569" cy="1270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10" name="Text 8"/>
          <p:cNvSpPr/>
          <p:nvPr/>
        </p:nvSpPr>
        <p:spPr>
          <a:xfrm>
            <a:off x="6203001" y="1186557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Load Dataset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03001" y="1357015"/>
            <a:ext cx="5333569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Load NASA JPL Small-Body Database (958,524 rows, 36 columns).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6203001" y="1559421"/>
            <a:ext cx="165294" cy="103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6203001" y="1670645"/>
            <a:ext cx="5333569" cy="1270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14" name="Text 12"/>
          <p:cNvSpPr/>
          <p:nvPr/>
        </p:nvSpPr>
        <p:spPr>
          <a:xfrm>
            <a:off x="6203001" y="1753791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Explore &amp; Check Data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03001" y="1924248"/>
            <a:ext cx="5333569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Perform EDA: data types, missing values, distributions, outliers.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6203001" y="2126655"/>
            <a:ext cx="165294" cy="103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6203001" y="2221409"/>
            <a:ext cx="5333569" cy="1270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18" name="Text 16"/>
          <p:cNvSpPr/>
          <p:nvPr/>
        </p:nvSpPr>
        <p:spPr>
          <a:xfrm>
            <a:off x="6203001" y="2321024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 Data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03001" y="2491482"/>
            <a:ext cx="5333569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Remove metadata columns, handle missing values, separate train/test.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6203001" y="2693888"/>
            <a:ext cx="165294" cy="103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6203001" y="2772172"/>
            <a:ext cx="5333569" cy="1270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22" name="Text 20"/>
          <p:cNvSpPr/>
          <p:nvPr/>
        </p:nvSpPr>
        <p:spPr>
          <a:xfrm>
            <a:off x="6203001" y="2888258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Impute Diameter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03001" y="3058716"/>
            <a:ext cx="5333569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 regression sub-model to estimate missing diameter values.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6203001" y="3261122"/>
            <a:ext cx="165294" cy="103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6203001" y="3322935"/>
            <a:ext cx="5333569" cy="1270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26" name="Text 24"/>
          <p:cNvSpPr/>
          <p:nvPr/>
        </p:nvSpPr>
        <p:spPr>
          <a:xfrm>
            <a:off x="6203001" y="3455491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Engineering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03001" y="3625949"/>
            <a:ext cx="5333569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Create derived features; select final set via importance threshold.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6203001" y="3828355"/>
            <a:ext cx="165294" cy="103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06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6203001" y="3873698"/>
            <a:ext cx="5333569" cy="1270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30" name="Text 28"/>
          <p:cNvSpPr/>
          <p:nvPr/>
        </p:nvSpPr>
        <p:spPr>
          <a:xfrm>
            <a:off x="6203001" y="4022725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Handle Class Imbalance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03001" y="4193183"/>
            <a:ext cx="5333569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Apply class weights, SMOTE, or balanced subsampling per model.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6203001" y="4395589"/>
            <a:ext cx="165294" cy="103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07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6203001" y="4424462"/>
            <a:ext cx="5333569" cy="1270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34" name="Text 32"/>
          <p:cNvSpPr/>
          <p:nvPr/>
        </p:nvSpPr>
        <p:spPr>
          <a:xfrm>
            <a:off x="6203001" y="4589959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 &amp; Evaluate Models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03001" y="4760416"/>
            <a:ext cx="5333569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Train XGBoost, Logistic Regression, and Random Forest with 5-fold CV.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6203001" y="4962823"/>
            <a:ext cx="165294" cy="103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08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6203001" y="4975225"/>
            <a:ext cx="5333569" cy="1270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38" name="Text 36"/>
          <p:cNvSpPr/>
          <p:nvPr/>
        </p:nvSpPr>
        <p:spPr>
          <a:xfrm>
            <a:off x="6203001" y="5157192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 Decision Thresholds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03001" y="5327650"/>
            <a:ext cx="5333569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Evaluate thresholds 0.1–0.7; select optimal (0.30).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6203001" y="5530056"/>
            <a:ext cx="165294" cy="103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09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6203001" y="5525988"/>
            <a:ext cx="5333569" cy="1270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42" name="Text 40"/>
          <p:cNvSpPr/>
          <p:nvPr/>
        </p:nvSpPr>
        <p:spPr>
          <a:xfrm>
            <a:off x="6203001" y="5724426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Save Artifacts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203001" y="5894884"/>
            <a:ext cx="5333569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Save model, threshold, encoder, and preprocessing objects via Joblib.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6203001" y="6097290"/>
            <a:ext cx="165294" cy="103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10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6203001" y="6076752"/>
            <a:ext cx="5333569" cy="1270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46" name="Text 44"/>
          <p:cNvSpPr/>
          <p:nvPr/>
        </p:nvSpPr>
        <p:spPr>
          <a:xfrm>
            <a:off x="6203001" y="6291659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 Streamlit App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203001" y="6462117"/>
            <a:ext cx="5333569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Launch interactive web application for PHA classification.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2146"/>
            <a:ext cx="10868745" cy="39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661475" y="1091704"/>
            <a:ext cx="10868745" cy="35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This project builds a </a:t>
            </a:r>
            <a:pPr algn="l"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complete, end-to-end machine learning pipeline</a:t>
            </a:r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for classifying asteroids as Potentially Hazardous or Non-PHA. The system addresses every stage of the ML lifecycle — from raw data exploration to a deployed interactive application.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61475" y="1558330"/>
            <a:ext cx="5385856" cy="1356122"/>
          </a:xfrm>
          <a:prstGeom prst="roundRect">
            <a:avLst>
              <a:gd name="adj" fmla="val 3922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4425" y="1691283"/>
            <a:ext cx="379800" cy="379809"/>
          </a:xfrm>
          <a:prstGeom prst="ellipse">
            <a:avLst/>
          </a:prstGeom>
          <a:solidFill>
            <a:srgbClr val="581CA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8899" y="1795661"/>
            <a:ext cx="170850" cy="1708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4425" y="2168029"/>
            <a:ext cx="5119956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Careful Data Preparation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4425" y="2423914"/>
            <a:ext cx="5119956" cy="35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Thorough EDA, cleaning, and separation of train/test data ensured a reliable foundation for modeling.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144265" y="1558330"/>
            <a:ext cx="5385955" cy="1356122"/>
          </a:xfrm>
          <a:prstGeom prst="roundRect">
            <a:avLst>
              <a:gd name="adj" fmla="val 3922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77215" y="1691283"/>
            <a:ext cx="379800" cy="379809"/>
          </a:xfrm>
          <a:prstGeom prst="ellipse">
            <a:avLst/>
          </a:prstGeom>
          <a:solidFill>
            <a:srgbClr val="581CA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81690" y="1795661"/>
            <a:ext cx="170850" cy="17085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77215" y="2168029"/>
            <a:ext cx="5120056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 Diameter Handling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277215" y="2423914"/>
            <a:ext cx="5120056" cy="35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dedicated regression sub-model estimates missing diameter values, enabling more complete feature sets.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61475" y="3011388"/>
            <a:ext cx="5385856" cy="1356122"/>
          </a:xfrm>
          <a:prstGeom prst="roundRect">
            <a:avLst>
              <a:gd name="adj" fmla="val 3922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94425" y="3144341"/>
            <a:ext cx="379800" cy="379809"/>
          </a:xfrm>
          <a:prstGeom prst="ellipse">
            <a:avLst/>
          </a:prstGeom>
          <a:solidFill>
            <a:srgbClr val="581CA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8899" y="3248720"/>
            <a:ext cx="170850" cy="17085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4425" y="3621088"/>
            <a:ext cx="5119956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794425" y="3876973"/>
            <a:ext cx="5119956" cy="35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Derived features like MOID-to-diameter ratio and orbital span improved the model's ability to distinguish PHA asteroids.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144265" y="3011388"/>
            <a:ext cx="5385955" cy="1356122"/>
          </a:xfrm>
          <a:prstGeom prst="roundRect">
            <a:avLst>
              <a:gd name="adj" fmla="val 3922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277215" y="3144341"/>
            <a:ext cx="379800" cy="379809"/>
          </a:xfrm>
          <a:prstGeom prst="ellipse">
            <a:avLst/>
          </a:prstGeom>
          <a:solidFill>
            <a:srgbClr val="581CA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81690" y="3248720"/>
            <a:ext cx="170850" cy="17085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77215" y="3621088"/>
            <a:ext cx="5120056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 Imbalance Handling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277215" y="3876973"/>
            <a:ext cx="5120056" cy="35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Class weights, SMOTE, and balanced subsampling ensured the minority (PHA) class was properly learned.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661475" y="4464447"/>
            <a:ext cx="5385856" cy="1356122"/>
          </a:xfrm>
          <a:prstGeom prst="roundRect">
            <a:avLst>
              <a:gd name="adj" fmla="val 3922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94425" y="4597400"/>
            <a:ext cx="379800" cy="379809"/>
          </a:xfrm>
          <a:prstGeom prst="ellipse">
            <a:avLst/>
          </a:prstGeom>
          <a:solidFill>
            <a:srgbClr val="581CA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8899" y="4701778"/>
            <a:ext cx="170850" cy="17085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94425" y="5074146"/>
            <a:ext cx="5119956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Comparison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94425" y="5330031"/>
            <a:ext cx="5119956" cy="35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XGBoost, Logistic Regression, and Random Forest were compared — Random Forest achieved the best F1-score (0.91).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144265" y="4464447"/>
            <a:ext cx="5385955" cy="1356122"/>
          </a:xfrm>
          <a:prstGeom prst="roundRect">
            <a:avLst>
              <a:gd name="adj" fmla="val 3922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277215" y="4597400"/>
            <a:ext cx="379800" cy="379809"/>
          </a:xfrm>
          <a:prstGeom prst="ellipse">
            <a:avLst/>
          </a:prstGeom>
          <a:solidFill>
            <a:srgbClr val="581CA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81690" y="4701778"/>
            <a:ext cx="170850" cy="17085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77215" y="5074146"/>
            <a:ext cx="5120056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277215" y="5330031"/>
            <a:ext cx="5120056" cy="35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final Random Forest model with a 0.30 decision threshold is deployed as an interactive Streamlit web application.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61475" y="5929610"/>
            <a:ext cx="10868745" cy="426244"/>
          </a:xfrm>
          <a:prstGeom prst="roundRect">
            <a:avLst>
              <a:gd name="adj" fmla="val 12477"/>
            </a:avLst>
          </a:prstGeom>
          <a:solidFill>
            <a:srgbClr val="31136C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8075" y="6068020"/>
            <a:ext cx="158250" cy="126603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072925" y="6058198"/>
            <a:ext cx="10940280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Important Reminder:</a:t>
            </a:r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This system provides a </a:t>
            </a:r>
            <a:pPr algn="l"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model-based classification</a:t>
            </a:r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only. It does </a:t>
            </a:r>
            <a:pPr algn="l"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not</a:t>
            </a:r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predict real Earth impact probability and is not a scientifically validated impact risk tool.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2026-09-26T06:46:11Z</dcterms:created>
  <dcterms:modified xsi:type="dcterms:W3CDTF">2026-09-26T06:46:11Z</dcterms:modified>
</cp:coreProperties>
</file>